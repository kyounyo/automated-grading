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C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02975" y="-457200"/>
            <a:ext cx="1645920" cy="1645920"/>
          </a:xfrm>
          <a:prstGeom prst="ellipse">
            <a:avLst/>
          </a:prstGeom>
          <a:solidFill>
            <a:srgbClr val="DC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B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/>
          <a:lstStyle/>
          <a:p>
            <a:pPr algn="ctr"/>
            <a:r>
              <a:rPr sz="1200" b="1">
                <a:solidFill>
                  <a:srgbClr val="1E5C66"/>
                </a:solidFill>
                <a:latin typeface="Poppins"/>
              </a:rPr>
              <a:t>METHODOLOGY &amp; PROGRESS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686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Poppins"/>
              </a:rPr>
              <a:t>Kanban Board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CF0E0"/>
                </a:solidFill>
                <a:latin typeface="Poppins"/>
              </a:rPr>
              <a:t>Reconstructed from git log --all, branch divergence, and inspection of implementation files across all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B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5C66"/>
                </a:solidFill>
                <a:latin typeface="Poppins"/>
              </a:rPr>
              <a:t>DONE  (6)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96312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06040"/>
            <a:ext cx="2478024" cy="37033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Full-stack scaffold: React + FastAPI + PostgreSQL + S3 + ChromaDB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Multi-agent grading pipeline (Parser → Grader → Auditor)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Confidence engine (15% discrepancy threshold)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ICC tracker vs. lecturer marks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Human-in-the-loop review UI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Dashboard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09360"/>
            <a:ext cx="2478024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5C66"/>
                </a:solidFill>
                <a:latin typeface="Poppins"/>
              </a:rPr>
              <a:t>Owner: Zoe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96596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5C66"/>
                </a:solidFill>
                <a:latin typeface="Poppins"/>
              </a:rPr>
              <a:t>IN REVIEW  (2)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496312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478024" cy="37033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AI-Evaluation branch: UI polish, bulk-upload, Excel rubric parser (2 commits ahead, unmerged)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Doc-parser branch: rubric/question splitting — latest commit flagged “(TBD)”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6309360"/>
            <a:ext cx="2478024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5C66"/>
                </a:solidFill>
                <a:latin typeface="Poppins"/>
              </a:rPr>
              <a:t>Owner: Zoe / Chi Shien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96596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7F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5C66"/>
                </a:solidFill>
                <a:latin typeface="Poppins"/>
              </a:rPr>
              <a:t>IN PROGRESS  (3)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496312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606040"/>
            <a:ext cx="2478024" cy="37033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LLM branch: Gemini / Claude / Nemotron role benchmarking (~$4.47 of $50 budget)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prompt-engineering-q6-q8: Q6–Q8 tuning (uncommitted changes)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Q22 open-ended prompt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6309360"/>
            <a:ext cx="2478024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5C66"/>
                </a:solidFill>
                <a:latin typeface="Poppins"/>
              </a:rPr>
              <a:t>Owner: Ee Gwen / Qian Jun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196596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B8C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5C66"/>
                </a:solidFill>
                <a:latin typeface="Poppins"/>
              </a:rPr>
              <a:t>BACKLOG  (5)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2496312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606040"/>
            <a:ext cx="2478024" cy="37033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Authentication / access control (NFR-04)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Performance testing: 30 submissions &lt; 10 min (NFR-01)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Deployment pipeline (no Docker / CI-CD found)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Image-based grading (low priority)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1E5C66"/>
                </a:solidFill>
                <a:latin typeface="Poppins"/>
              </a:rPr>
              <a:t>•  </a:t>
            </a:r>
            <a:r>
              <a:rPr sz="950">
                <a:solidFill>
                  <a:srgbClr val="3A3A3A"/>
                </a:solidFill>
                <a:latin typeface="Poppins"/>
              </a:rPr>
              <a:t>Synthesizer as a distinct 4th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6309360"/>
            <a:ext cx="2478024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5C66"/>
                </a:solidFill>
                <a:latin typeface="Poppins"/>
              </a:rPr>
              <a:t>Owner: Unassigned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FE3E0"/>
                </a:solidFill>
                <a:latin typeface="Poppins"/>
              </a:rPr>
              <a:t>gh CLI unavailable in this environment — board reconstructed directly from repository history. Branches inspected: main, AI-Evaluation, LLM, Doc-parser, PDF-parser, prompt-engineering-q6-q8, Q9-Test.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C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02975" y="-457200"/>
            <a:ext cx="1645920" cy="1645920"/>
          </a:xfrm>
          <a:prstGeom prst="ellipse">
            <a:avLst/>
          </a:prstGeom>
          <a:solidFill>
            <a:srgbClr val="DC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B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/>
          <a:lstStyle/>
          <a:p>
            <a:pPr algn="ctr"/>
            <a:r>
              <a:rPr sz="1200" b="1">
                <a:solidFill>
                  <a:srgbClr val="1E5C66"/>
                </a:solidFill>
                <a:latin typeface="Poppins"/>
              </a:rPr>
              <a:t>METHODOLOGY &amp; PROGRESS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686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Poppins"/>
              </a:rPr>
              <a:t>Percentage of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CF0E0"/>
                </a:solidFill>
                <a:latin typeface="Poppins"/>
              </a:rPr>
              <a:t>Two independent calculation methods, cross-checked against the RTM and the Gantt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B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1E5C66"/>
                </a:solidFill>
                <a:latin typeface="Poppin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21992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5C66"/>
                </a:solidFill>
                <a:latin typeface="Poppins"/>
              </a:rPr>
              <a:t>RTM Requirement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4846320" cy="502920"/>
          </a:xfrm>
          <a:prstGeom prst="roundRect">
            <a:avLst>
              <a:gd name="adj" fmla="val 15000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i="1">
                <a:solidFill>
                  <a:srgbClr val="1E5C66"/>
                </a:solidFill>
                <a:latin typeface="Consolas"/>
              </a:rPr>
              <a:t>% = Completed Requirements ÷ Total Requirements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846320" cy="14630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Completed (10): FR-01–FR-03, FR-05–FR-10, NFR-02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In progress (4): FR-04, NFR-01, NFR-05, NFR-06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Not started (2): NFR-03, NFR-04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5C66"/>
                </a:solidFill>
                <a:latin typeface="Poppins"/>
              </a:rPr>
              <a:t>Result: 10 / 16 = 62.5%  (75% with half-credit for in-progress)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96596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3640" y="2194560"/>
            <a:ext cx="502920" cy="502920"/>
          </a:xfrm>
          <a:prstGeom prst="ellipse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1E5C66"/>
                </a:solidFill>
                <a:latin typeface="Poppin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21992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5C66"/>
                </a:solidFill>
                <a:latin typeface="Poppins"/>
              </a:rPr>
              <a:t>Milestone / Iteration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34640"/>
            <a:ext cx="4846320" cy="502920"/>
          </a:xfrm>
          <a:prstGeom prst="roundRect">
            <a:avLst>
              <a:gd name="adj" fmla="val 15000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i="1">
                <a:solidFill>
                  <a:srgbClr val="1E5C66"/>
                </a:solidFill>
                <a:latin typeface="Consolas"/>
              </a:rPr>
              <a:t>% = (Completed + 0.5×In-Progress) ÷ Total Milestones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4846320" cy="14630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1 (Requirements/Architecture): Completed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2 (Core Platform): Completed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3 (AI Grading System): In progress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4 (Integration/Deployment): Not started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2920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5C66"/>
                </a:solidFill>
                <a:latin typeface="Poppins"/>
              </a:rPr>
              <a:t>Result: (2 + 0.5×1) / 4 = 62.5%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15000"/>
            <a:ext cx="11247120" cy="777240"/>
          </a:xfrm>
          <a:prstGeom prst="roundRect">
            <a:avLst>
              <a:gd name="adj" fmla="val 20000"/>
            </a:avLst>
          </a:prstGeom>
          <a:solidFill>
            <a:srgbClr val="DC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500" b="1">
                <a:solidFill>
                  <a:srgbClr val="1E5C66"/>
                </a:solidFill>
                <a:latin typeface="Poppins"/>
              </a:rPr>
              <a:t>Both methods converge on ~62–63% complete </a:t>
            </a:r>
            <a:r>
              <a:rPr sz="1300">
                <a:solidFill>
                  <a:srgbClr val="3A3A3A"/>
                </a:solidFill>
                <a:latin typeface="Poppins"/>
              </a:rPr>
              <a:t>— consistent with the Gantt chart, which places the team partway through Iteration 3 as of 2 Sep 2026 (on schedule).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C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02975" y="-457200"/>
            <a:ext cx="1645920" cy="1645920"/>
          </a:xfrm>
          <a:prstGeom prst="ellipse">
            <a:avLst/>
          </a:prstGeom>
          <a:solidFill>
            <a:srgbClr val="DC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B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/>
          <a:lstStyle/>
          <a:p>
            <a:pPr algn="ctr"/>
            <a:r>
              <a:rPr sz="1200" b="1">
                <a:solidFill>
                  <a:srgbClr val="1E5C66"/>
                </a:solidFill>
                <a:latin typeface="Poppins"/>
              </a:rPr>
              <a:t>METHODOLOGY &amp; PROGRESS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686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Poppins"/>
              </a:rPr>
              <a:t>Completed vs. Remaining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CF0E0"/>
                </a:solidFill>
                <a:latin typeface="Poppins"/>
              </a:rPr>
              <a:t>Four Agile iteration milestones spanning March –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B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5C66"/>
                </a:solidFill>
                <a:latin typeface="Poppins"/>
              </a:rPr>
              <a:t>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32888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697480"/>
            <a:ext cx="3328416" cy="37947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1 — Requirements, architecture &amp; grading model approved. Literature review, requirements elicitation, system architecture, Phase 1 LLM benchmarking (10-model ICC table) all documented.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2 — Core platform validated. AWS S3 + PostgreSQL + ChromaDB provisioned; React dashboard + FastAPI backend working; bulk upload, assignment creation, submission management functional.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9659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7F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5C66"/>
                </a:solidFill>
                <a:latin typeface="Poppins"/>
              </a:rPr>
              <a:t>IN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532888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2697480"/>
            <a:ext cx="3328416" cy="37947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3 — Stakeholder acceptance of the AI grading system.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✓ Built: RAG retrieval, 3-agent grading pipeline, confidence/decision engine, ICC tracker, lecturer review + override UI, analytics dashboard.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↻ Open: AI-Evaluation &amp; Doc-parser branches unmerged; LLM model-role optimisation unfinished; Q6/Q8/Q22 prompt tuning ongoing; no formal sign-off yet from Dr. Ronald.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B8C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5C66"/>
                </a:solidFill>
                <a:latin typeface="Poppins"/>
              </a:rPr>
              <a:t>NOT STARTED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32888"/>
            <a:ext cx="36576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697480"/>
            <a:ext cx="3328416" cy="37947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Milestone 4 — Integration, validation &amp; deployment.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Full system / UAT testing (only 1 unit test file exists repo-wide)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Authentication / access control (NFR-04)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Formal performance testing (10-min / 30-submission NFR)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E5C66"/>
                </a:solidFill>
                <a:latin typeface="Poppins"/>
              </a:rPr>
              <a:t>•  </a:t>
            </a:r>
            <a:r>
              <a:rPr sz="1050">
                <a:solidFill>
                  <a:srgbClr val="3A3A3A"/>
                </a:solidFill>
                <a:latin typeface="Poppins"/>
              </a:rPr>
              <a:t>Deployment prep (no Docker/CI-CD config) &amp; final stakeholder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FE3E0"/>
                </a:solidFill>
                <a:latin typeface="Poppins"/>
              </a:rPr>
              <a:t>Milestone framing matches the AutoGrade+ Gantt chart (Appendix 7.4) — four iteration-level milestones from the March 2026 project proposal.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